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3383280"/>
            <a:ext cx="8503920" cy="457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926080"/>
            <a:ext cx="914400" cy="9144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ALIAS</a:t>
            </a:r>
          </a:p>
        </p:txBody>
      </p:sp>
      <p:sp>
        <p:nvSpPr>
          <p:cNvPr id="4" name="Oval 3"/>
          <p:cNvSpPr/>
          <p:nvPr/>
        </p:nvSpPr>
        <p:spPr>
          <a:xfrm>
            <a:off x="4114800" y="2926080"/>
            <a:ext cx="914400" cy="9144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PGP</a:t>
            </a:r>
          </a:p>
        </p:txBody>
      </p:sp>
      <p:sp>
        <p:nvSpPr>
          <p:cNvPr id="5" name="Oval 4"/>
          <p:cNvSpPr/>
          <p:nvPr/>
        </p:nvSpPr>
        <p:spPr>
          <a:xfrm>
            <a:off x="6858000" y="2926080"/>
            <a:ext cx="914400" cy="9144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BTC</a:t>
            </a:r>
          </a:p>
        </p:txBody>
      </p:sp>
      <p:sp>
        <p:nvSpPr>
          <p:cNvPr id="6" name="Oval 5"/>
          <p:cNvSpPr/>
          <p:nvPr/>
        </p:nvSpPr>
        <p:spPr>
          <a:xfrm>
            <a:off x="9601200" y="2926080"/>
            <a:ext cx="914400" cy="91440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800" b="1">
                <a:solidFill>
                  <a:srgbClr val="38BDF8"/>
                </a:solidFill>
              </a:defRPr>
            </a:pPr>
            <a:r>
              <a:t>GOTHAMITE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</a:defRPr>
            </a:pPr>
            <a:r>
              <a:t>DARK-WEB THREAT ACTOR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4389120"/>
            <a:ext cx="5486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SMART INDIA HACKATHON 2026</a:t>
            </a:r>
          </a:p>
          <a:p>
            <a:pPr algn="ctr">
              <a:defRPr sz="1400" b="0">
                <a:solidFill>
                  <a:srgbClr val="F1F5F9"/>
                </a:solidFill>
              </a:defRPr>
            </a:pPr>
            <a:r>
              <a:t>SIH26151 | Dark Web Threat Actor De-anonymization</a:t>
            </a:r>
          </a:p>
          <a:p>
            <a:pPr algn="ctr">
              <a:defRPr sz="1200" b="0">
                <a:solidFill>
                  <a:srgbClr val="C8C8C8"/>
                </a:solidFill>
              </a:defRPr>
            </a:pPr>
            <a:r>
              <a:t>Theme: Blockchain &amp; Cybersecurity | Category: Software</a:t>
            </a:r>
          </a:p>
          <a:p>
            <a:pPr algn="ctr">
              <a:defRPr sz="1000" b="0">
                <a:solidFill>
                  <a:srgbClr val="F1F5F9"/>
                </a:solidFill>
              </a:defRPr>
            </a:pPr>
          </a:p>
          <a:p>
            <a:pPr algn="ctr">
              <a:defRPr sz="1400" b="1">
                <a:solidFill>
                  <a:srgbClr val="F1F5F9"/>
                </a:solidFill>
              </a:defRPr>
            </a:pPr>
            <a:r>
              <a:t>Team Name: AvivCREW</a:t>
            </a:r>
          </a:p>
          <a:p>
            <a:pPr algn="ctr">
              <a:defRPr sz="1200" b="0">
                <a:solidFill>
                  <a:srgbClr val="C8C8C8"/>
                </a:solidFill>
              </a:defRPr>
            </a:pPr>
            <a:r>
              <a:t>Team ID: [TO BE ADDED] | Institute Code: [TO BE ADDED]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THE FRAGMENTATION PROBLEM &amp; OUR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FORUMS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MARKETPLACES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0896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LEAKS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651760"/>
            <a:ext cx="1371600" cy="457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2860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ALIAS • PGP • BTC • ARTIFACT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377440"/>
            <a:ext cx="2011680" cy="73152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GOTHAMITE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2651760"/>
            <a:ext cx="914400" cy="457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0" y="2377440"/>
            <a:ext cx="18288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DETERMINISTIC</a:t>
            </a:r>
            <a:br/>
            <a:r>
              <a:t>CORRELATION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2651760"/>
            <a:ext cx="457200" cy="457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2377440"/>
            <a:ext cx="18288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INVESTIGATOR</a:t>
            </a:r>
            <a:br/>
            <a:r>
              <a:t>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NOT EVERY CONNECTION MEANS IDENTITY.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29200"/>
            <a:ext cx="32004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CONTRADICTION-AWARE SCORING</a:t>
            </a:r>
            <a:br/>
            <a:br/>
            <a:r>
              <a:t>Penalizes concurrent activity overlap</a:t>
            </a:r>
            <a:br/>
            <a:r>
              <a:t>(-0.30 weight) to mathematicaly</a:t>
            </a:r>
            <a:br/>
            <a:r>
              <a:t>filter typosquatting decoys.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5029200"/>
            <a:ext cx="32004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EVIDENCE PROVENANCE</a:t>
            </a:r>
            <a:br/>
            <a:br/>
            <a:r>
              <a:t>Every graph edge links directly</a:t>
            </a:r>
            <a:br/>
            <a:r>
              <a:t>to immutable, SHA-256 hashed</a:t>
            </a:r>
            <a:br/>
            <a:r>
              <a:t>source artifacts.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029200"/>
            <a:ext cx="32004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INTERACTION ISOLATION</a:t>
            </a:r>
            <a:br/>
            <a:br/>
            <a:r>
              <a:t>'Transacted with' edges are structurally</a:t>
            </a:r>
            <a:br/>
            <a:r>
              <a:t>isolated and never promoted to</a:t>
            </a:r>
            <a:br/>
            <a:r>
              <a:t>identity linkages.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1148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DARK-WEB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828800"/>
            <a:ext cx="45720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41148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INGEST</a:t>
            </a:r>
            <a:br/>
            <a:r>
              <a:t>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926080"/>
            <a:ext cx="45720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41148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EVIDENCE LAYER</a:t>
            </a:r>
            <a:br/>
            <a:r>
              <a:t>SQLite / SQLAlchemy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4023360"/>
            <a:ext cx="45720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389120"/>
            <a:ext cx="41148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DETERMINISTIC CORRELATION</a:t>
            </a:r>
            <a:br/>
            <a:r>
              <a:t>Rules + NetworkX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5120640"/>
            <a:ext cx="45720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5486400"/>
            <a:ext cx="4114800" cy="73152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INVESTIGATOR GRAPH</a:t>
            </a:r>
            <a:br/>
            <a:r>
              <a:t>Streamlit + streamlit-agraph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600200"/>
            <a:ext cx="45720" cy="42519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12280" y="155448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4" name="Oval 13"/>
          <p:cNvSpPr/>
          <p:nvPr/>
        </p:nvSpPr>
        <p:spPr>
          <a:xfrm>
            <a:off x="6812280" y="251460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6812280" y="361188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6" name="Oval 15"/>
          <p:cNvSpPr/>
          <p:nvPr/>
        </p:nvSpPr>
        <p:spPr>
          <a:xfrm>
            <a:off x="6812280" y="470916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6812280" y="580644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7315200" y="1371600"/>
            <a:ext cx="36576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SOURCE DATA</a:t>
            </a:r>
            <a:br/>
            <a:r>
              <a:t>Raw dark-web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286000"/>
            <a:ext cx="36576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IMMUTABLE ARTIFACT</a:t>
            </a:r>
            <a:br/>
            <a:r>
              <a:t>SHA-256 hashed payload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383280"/>
            <a:ext cx="36576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ENTITY / IDENTIFIER</a:t>
            </a:r>
            <a:br/>
            <a:r>
              <a:t>Extracted PGP, Base58, Alias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480560"/>
            <a:ext cx="36576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SCORED RELATIONSHIP</a:t>
            </a:r>
            <a:br/>
            <a:r>
              <a:t>Arithmetic linkage weights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5577840"/>
            <a:ext cx="36576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INVESTIGATION GRAPH</a:t>
            </a:r>
            <a:br/>
            <a:r>
              <a:t>Rendered visual topology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560320"/>
            <a:ext cx="182880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3657600"/>
            <a:ext cx="182880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4754880"/>
            <a:ext cx="182880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5852160"/>
            <a:ext cx="182880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ADVERSARIAL INPUT → DEFENSIVE CORRELATION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4552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INTERACTION ≠ IDENTITY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2103120"/>
            <a:ext cx="914400" cy="9144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ACTOR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560320"/>
            <a:ext cx="3931920" cy="457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28600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</a:defRPr>
            </a:pPr>
            <a:r>
              <a:t>transacted_with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2103120"/>
            <a:ext cx="914400" cy="9144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ACTOR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A transaction is evidence of interaction, not proof of common identity.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41148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HOSTILE 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233672"/>
            <a:ext cx="2103120" cy="457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0" y="3931920"/>
            <a:ext cx="41148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STRICT PAYLOAD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754880"/>
            <a:ext cx="41148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FALSE LINKAGES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5056632"/>
            <a:ext cx="2103120" cy="457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4754880"/>
            <a:ext cx="41148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CONTRADICTION-AWARE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577840"/>
            <a:ext cx="41148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AUDITABILITY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5879592"/>
            <a:ext cx="2103120" cy="457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5577840"/>
            <a:ext cx="41148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SHA-256 PROVENANCE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THE INVESTIGATOR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371600"/>
            <a:ext cx="8046720" cy="4572000"/>
          </a:xfrm>
          <a:prstGeom prst="roundRect">
            <a:avLst/>
          </a:prstGeom>
          <a:solidFill>
            <a:srgbClr val="0A0F1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75569"/>
                </a:solidFill>
              </a:defRPr>
            </a:pPr>
            <a:r>
              <a:t>[SCREENSHOT TO BE ADDED]</a:t>
            </a:r>
            <a:br/>
            <a:br/>
            <a:r>
              <a:t>ENTITY GRAPH / WORKBENCH</a:t>
            </a:r>
            <a:br/>
            <a:br/>
            <a:r>
              <a:t>ALIAS ───── PGP ───── BTC ───── 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9260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STANDARDIZED ATTRIBUTION</a:t>
            </a:r>
            <a:br/>
            <a:r>
              <a:t>Arithmetic, explainable linkage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29260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AUDITABLE EVIDENCE</a:t>
            </a:r>
            <a:br/>
            <a:r>
              <a:t>SHA-256 provenance and 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29260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REDUCED MANUAL BIAS</a:t>
            </a:r>
            <a:br/>
            <a:r>
              <a:t>Consistent deterministic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60"/>
            <a:ext cx="29260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INVESTIGATOR VISIBILITY</a:t>
            </a:r>
            <a:br/>
            <a:r>
              <a:t>Graph-based relationship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</a:defRPr>
            </a:pPr>
            <a:r>
              <a:t>Cryptographically backed, auditable evidence designed to support rigorous digital investigations.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C8C8C8"/>
                </a:solidFill>
              </a:defRPr>
            </a:pPr>
            <a:r>
              <a:t>FROM DARK-WEB FRAGMENTS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88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TO TRACEABLE ACTOR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2860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DETERMINISTIC</a:t>
            </a:r>
            <a:br/>
            <a:r>
              <a:t>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</a:defRPr>
            </a:pPr>
            <a: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743200"/>
            <a:ext cx="22860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EVIDENCE</a:t>
            </a:r>
            <a:br/>
            <a:r>
              <a:t>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</a:defRPr>
            </a:pPr>
            <a: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22860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CONTRADICTION-AWARE</a:t>
            </a:r>
            <a:br/>
            <a:r>
              <a:t>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0175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</a:defRPr>
            </a:pPr>
            <a: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743200"/>
            <a:ext cx="22860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SAFE SYNTHETIC</a:t>
            </a:r>
            <a:br/>
            <a:r>
              <a:t>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14800"/>
            <a:ext cx="9445752" cy="457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406908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3" name="Oval 12"/>
          <p:cNvSpPr/>
          <p:nvPr/>
        </p:nvSpPr>
        <p:spPr>
          <a:xfrm>
            <a:off x="3566160" y="406908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4" name="Oval 13"/>
          <p:cNvSpPr/>
          <p:nvPr/>
        </p:nvSpPr>
        <p:spPr>
          <a:xfrm>
            <a:off x="5852160" y="406908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8138160" y="406908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6" name="Oval 15"/>
          <p:cNvSpPr/>
          <p:nvPr/>
        </p:nvSpPr>
        <p:spPr>
          <a:xfrm>
            <a:off x="10424160" y="4069080"/>
            <a:ext cx="137160" cy="1371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SOURCE                 ARTIFACT                 ENTITY                 RELATIONSHIP                 ACTOR GRAPH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303520"/>
            <a:ext cx="10360152" cy="914400"/>
          </a:xfrm>
          <a:prstGeom prst="roundRect">
            <a:avLst/>
          </a:prstGeom>
          <a:solidFill>
            <a:srgbClr val="0A0F1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</a:p>
          <a:p>
            <a:pPr algn="ctr">
              <a:defRPr sz="1200">
                <a:solidFill>
                  <a:srgbClr val="969696"/>
                </a:solidFill>
              </a:defRPr>
            </a:pPr>
            <a:r>
              <a:t>References &amp; Standards: • Digital Evidence Handling Standards • Deterministic PGP / Base58 Cryptocurrency Validation</a:t>
            </a:r>
          </a:p>
          <a:p>
            <a:pPr algn="ctr">
              <a:defRPr sz="1200">
                <a:solidFill>
                  <a:srgbClr val="969696"/>
                </a:solidFill>
              </a:defRPr>
            </a:pPr>
            <a:r>
              <a:t>• Containerized mock Tor networks (.onion.mock) for ethical extraction validation • OSINT architectural benchmarks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