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980B9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/>
            </a:pPr>
            <a:r>
              <a:t>GOTHAMITE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Problem Statement ID: SIH26151</a:t>
            </a:r>
          </a:p>
          <a:p>
            <a:pPr algn="ctr">
              <a:defRPr sz="1800"/>
            </a:pPr>
            <a:r>
              <a:t>Problem Statement Title: Dark Web Threat Actor De-anonymization</a:t>
            </a:r>
          </a:p>
          <a:p>
            <a:pPr algn="ctr">
              <a:defRPr sz="1800"/>
            </a:pPr>
            <a:r>
              <a:t>Theme: Blockchain &amp; Cybersecurity</a:t>
            </a:r>
          </a:p>
          <a:p>
            <a:pPr algn="ctr">
              <a:defRPr sz="1800"/>
            </a:pPr>
            <a:r>
              <a:t>PS Category: Software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Team ID: [TO BE ADDED]</a:t>
            </a:r>
          </a:p>
          <a:p>
            <a:pPr algn="ctr">
              <a:defRPr sz="1800"/>
            </a:pPr>
            <a:r>
              <a:t>Team Name: AvivCREW</a:t>
            </a:r>
          </a:p>
          <a:p>
            <a:pPr algn="ctr">
              <a:defRPr sz="1800"/>
            </a:pPr>
            <a:r>
              <a:t>Institute code: [TO BE ADDED]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GOTHAMITE: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Dark-Web Sources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20240" y="210312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146304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 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210312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13716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Entity Extraction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10312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13716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Deterministic Correlation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98079" y="210312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1188720" cy="731520"/>
          </a:xfrm>
          <a:prstGeom prst="roundRect">
            <a:avLst/>
          </a:prstGeom>
          <a:solidFill>
            <a:srgbClr val="27AE6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Investigator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228600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Contradiction-Aware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657600"/>
            <a:ext cx="2286000" cy="548640"/>
          </a:xfrm>
          <a:prstGeom prst="roundRect">
            <a:avLst/>
          </a:prstGeom>
          <a:solidFill>
            <a:srgbClr val="D354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Evidence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2286000" cy="548640"/>
          </a:xfrm>
          <a:prstGeom prst="roundRect">
            <a:avLst/>
          </a:prstGeom>
          <a:solidFill>
            <a:srgbClr val="8E44A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Interaction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Penalizes concurrent activity overlap (-0.30) to mathematically filter out typosquatting decoys.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Every graph edge links directly to immutable, SHA-256 hashed source artifacts.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'Transacted with' edges are structurally isolated and never promoted to identity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INGEST</a:t>
            </a:r>
          </a:p>
          <a:p>
            <a:r>
              <a:t>(FastAPI)</a:t>
            </a:r>
          </a:p>
        </p:txBody>
      </p:sp>
      <p:sp>
        <p:nvSpPr>
          <p:cNvPr id="4" name="Down Arrow 3"/>
          <p:cNvSpPr/>
          <p:nvPr/>
        </p:nvSpPr>
        <p:spPr>
          <a:xfrm>
            <a:off x="1737360" y="2651760"/>
            <a:ext cx="182880" cy="365760"/>
          </a:xfrm>
          <a:prstGeom prst="down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8288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STORAGE</a:t>
            </a:r>
          </a:p>
          <a:p>
            <a:r>
              <a:t>(SQLite/SQLAlchemy)</a:t>
            </a:r>
          </a:p>
        </p:txBody>
      </p:sp>
      <p:sp>
        <p:nvSpPr>
          <p:cNvPr id="6" name="Down Arrow 5"/>
          <p:cNvSpPr/>
          <p:nvPr/>
        </p:nvSpPr>
        <p:spPr>
          <a:xfrm>
            <a:off x="1737360" y="3931920"/>
            <a:ext cx="182880" cy="365760"/>
          </a:xfrm>
          <a:prstGeom prst="down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8288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CORRELATION</a:t>
            </a:r>
          </a:p>
          <a:p>
            <a:r>
              <a:t>(Deterministic/NetworkX)</a:t>
            </a:r>
          </a:p>
        </p:txBody>
      </p:sp>
      <p:sp>
        <p:nvSpPr>
          <p:cNvPr id="8" name="Down Arrow 7"/>
          <p:cNvSpPr/>
          <p:nvPr/>
        </p:nvSpPr>
        <p:spPr>
          <a:xfrm>
            <a:off x="1737360" y="5212080"/>
            <a:ext cx="182880" cy="365760"/>
          </a:xfrm>
          <a:prstGeom prst="down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669280"/>
            <a:ext cx="1828800" cy="731520"/>
          </a:xfrm>
          <a:prstGeom prst="roundRect">
            <a:avLst/>
          </a:prstGeom>
          <a:solidFill>
            <a:srgbClr val="27AE6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PRESENTATION</a:t>
            </a:r>
          </a:p>
          <a:p>
            <a:r>
              <a:t>(Streamlit UI)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1371600" cy="457200"/>
          </a:xfrm>
          <a:prstGeom prst="roundRect">
            <a:avLst/>
          </a:prstGeom>
          <a:solidFill>
            <a:srgbClr val="7F8C8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Source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20640" y="242316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2286000"/>
            <a:ext cx="1371600" cy="457200"/>
          </a:xfrm>
          <a:prstGeom prst="roundRect">
            <a:avLst/>
          </a:prstGeom>
          <a:solidFill>
            <a:srgbClr val="7F8C8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Immutable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657600"/>
            <a:ext cx="1371600" cy="457200"/>
          </a:xfrm>
          <a:prstGeom prst="roundRect">
            <a:avLst/>
          </a:prstGeom>
          <a:solidFill>
            <a:srgbClr val="7F8C8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Entities &amp; Identifiers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20640" y="3794760"/>
            <a:ext cx="27432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0" y="3657600"/>
            <a:ext cx="1371600" cy="457200"/>
          </a:xfrm>
          <a:prstGeom prst="roundRect">
            <a:avLst/>
          </a:prstGeom>
          <a:solidFill>
            <a:srgbClr val="7F8C8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Scored Relationships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029200"/>
            <a:ext cx="1828800" cy="731520"/>
          </a:xfrm>
          <a:prstGeom prst="roundRect">
            <a:avLst/>
          </a:prstGeom>
          <a:solidFill>
            <a:srgbClr val="7F8C8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Graph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Data Object Flow: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FEASIBILITY, RISK &amp;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HOSTILE 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91840" y="2103120"/>
            <a:ext cx="36576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828800"/>
            <a:ext cx="3657600" cy="731520"/>
          </a:xfrm>
          <a:prstGeom prst="roundRect">
            <a:avLst/>
          </a:prstGeom>
          <a:solidFill>
            <a:srgbClr val="2ECC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Strict payload validation (Inert Data Defense)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228600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FALSE LINKAGES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3200400"/>
            <a:ext cx="36576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0" y="2926080"/>
            <a:ext cx="3657600" cy="731520"/>
          </a:xfrm>
          <a:prstGeom prst="roundRect">
            <a:avLst/>
          </a:prstGeom>
          <a:solidFill>
            <a:srgbClr val="2ECC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Contradiction-aware scoring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228600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INTERACTION != IDENTITY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4297680"/>
            <a:ext cx="36576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0" y="4023360"/>
            <a:ext cx="3657600" cy="731520"/>
          </a:xfrm>
          <a:prstGeom prst="roundRect">
            <a:avLst/>
          </a:prstGeom>
          <a:solidFill>
            <a:srgbClr val="2ECC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Absolute isolation of interaction edges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2286000" cy="731520"/>
          </a:xfrm>
          <a:prstGeom prst="roundRect">
            <a:avLst/>
          </a:prstGeom>
          <a:solidFill>
            <a:srgbClr val="C0392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AUDITABILITY FAILURE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40" y="5394960"/>
            <a:ext cx="365760" cy="182880"/>
          </a:xfrm>
          <a:prstGeom prst="rightArrow">
            <a:avLst/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5120640"/>
            <a:ext cx="3657600" cy="731520"/>
          </a:xfrm>
          <a:prstGeom prst="roundRect">
            <a:avLst/>
          </a:prstGeom>
          <a:solidFill>
            <a:srgbClr val="2ECC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SHA-256 artifact provenance &amp; traceability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54864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STANDARDIZED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Arithmetic, explainable linkage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286000" cy="54864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AUDITABLE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SHA-256 provenance and deep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54864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REDUCED MANUAL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Consistent deterministic scoring without LLM hallucinations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200400"/>
            <a:ext cx="2286000" cy="54864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INVESTIGATOR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Interactive, graph-based relationship exploration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2743200" cy="2743200"/>
          </a:xfrm>
          <a:prstGeom prst="rect">
            <a:avLst/>
          </a:prstGeom>
          <a:solidFill>
            <a:srgbClr val="ECF0F1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7F8C8D"/>
                </a:solidFill>
              </a:defRPr>
            </a:pPr>
            <a:r>
              <a:t>[SCREENSHOT TO BE ADDED]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1600"/>
            </a:pPr>
            <a:r>
              <a:t>Cryptographically backed, auditable evidence designed to support rigorous digital investigations.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Digital Evidence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Aligning correlation logic with strict tracking using verbatim SHA-256 artifact hashing.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828800"/>
            <a:ext cx="32004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Cryptographic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Implementation of deterministic fingerprint and Base58 cryptocurrency wallet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004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Darkweb-Sandbox Validations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Testing against a custom containerized mock Tor network (.onion.mock) to ethically validate entity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114800"/>
            <a:ext cx="32004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Open-Source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937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Comparative architectural review against OSINT tools to ensure contradiction-aware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